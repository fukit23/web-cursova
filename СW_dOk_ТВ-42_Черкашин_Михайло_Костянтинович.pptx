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59" r:id="rId6"/>
    <p:sldId id="267" r:id="rId7"/>
    <p:sldId id="268" r:id="rId8"/>
    <p:sldId id="269" r:id="rId9"/>
    <p:sldId id="260" r:id="rId10"/>
    <p:sldId id="273" r:id="rId11"/>
    <p:sldId id="272" r:id="rId12"/>
    <p:sldId id="271" r:id="rId13"/>
    <p:sldId id="270" r:id="rId14"/>
    <p:sldId id="261" r:id="rId15"/>
    <p:sldId id="262" r:id="rId16"/>
    <p:sldId id="263" r:id="rId17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105" d="100"/>
          <a:sy n="105" d="100"/>
        </p:scale>
        <p:origin x="8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4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і об’є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76962"/>
            <a:ext cx="12192000" cy="681355"/>
          </a:xfrm>
          <a:custGeom>
            <a:avLst/>
            <a:gdLst/>
            <a:ahLst/>
            <a:cxnLst/>
            <a:rect l="l" t="t" r="r" b="b"/>
            <a:pathLst>
              <a:path w="12192000" h="681354">
                <a:moveTo>
                  <a:pt x="12192000" y="0"/>
                </a:moveTo>
                <a:lnTo>
                  <a:pt x="0" y="0"/>
                </a:lnTo>
                <a:lnTo>
                  <a:pt x="0" y="681037"/>
                </a:lnTo>
                <a:lnTo>
                  <a:pt x="12192000" y="6810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7" y="117594"/>
            <a:ext cx="924520" cy="1350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9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1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5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33413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12191936" y="0"/>
                </a:moveTo>
                <a:lnTo>
                  <a:pt x="0" y="0"/>
                </a:lnTo>
                <a:lnTo>
                  <a:pt x="0" y="524586"/>
                </a:lnTo>
                <a:lnTo>
                  <a:pt x="12191936" y="524586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01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0" y="0"/>
                </a:moveTo>
                <a:lnTo>
                  <a:pt x="12191936" y="0"/>
                </a:lnTo>
                <a:lnTo>
                  <a:pt x="12191936" y="524598"/>
                </a:lnTo>
              </a:path>
            </a:pathLst>
          </a:custGeom>
          <a:ln w="9525">
            <a:solidFill>
              <a:srgbClr val="1C3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0" y="0"/>
                </a:lnTo>
                <a:lnTo>
                  <a:pt x="0" y="1206004"/>
                </a:lnTo>
                <a:lnTo>
                  <a:pt x="12191936" y="1206004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12191936" y="1205992"/>
                </a:lnTo>
                <a:lnTo>
                  <a:pt x="0" y="1205992"/>
                </a:lnTo>
              </a:path>
            </a:pathLst>
          </a:custGeom>
          <a:ln w="9525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204" y="55999"/>
            <a:ext cx="731591" cy="1062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5287" y="2226023"/>
            <a:ext cx="11661913" cy="4124206"/>
          </a:xfrm>
        </p:spPr>
        <p:txBody>
          <a:bodyPr/>
          <a:lstStyle/>
          <a:p>
            <a:br>
              <a:rPr lang="uk-UA" sz="4000" b="1" dirty="0"/>
            </a:br>
            <a:br>
              <a:rPr lang="uk-UA" sz="4000" b="1" dirty="0"/>
            </a:br>
            <a:r>
              <a:rPr lang="uk-UA" sz="4000" b="1" dirty="0"/>
              <a:t>Тема курсової роботи</a:t>
            </a:r>
            <a:br>
              <a:rPr lang="uk-UA" sz="4000" b="1" dirty="0"/>
            </a:br>
            <a:r>
              <a:rPr lang="uk-UA" sz="3200" u="sng" dirty="0"/>
              <a:t>Виконав:</a:t>
            </a:r>
            <a:r>
              <a:rPr lang="uk-UA" sz="3200" dirty="0"/>
              <a:t> Черкашин Михайло Костянтинович, група ТВ-42</a:t>
            </a:r>
            <a:br>
              <a:rPr lang="uk-UA" sz="4000" b="1" dirty="0"/>
            </a:br>
            <a:r>
              <a:rPr lang="uk-UA" sz="3200" u="sng" dirty="0"/>
              <a:t>Перевірив:</a:t>
            </a:r>
            <a:r>
              <a:rPr lang="uk-UA" sz="4000" dirty="0"/>
              <a:t> </a:t>
            </a:r>
            <a:r>
              <a:rPr lang="uk-UA" sz="3200" dirty="0"/>
              <a:t>Голець Владислав Олександрович</a:t>
            </a:r>
            <a:br>
              <a:rPr lang="uk-UA" sz="3200" dirty="0"/>
            </a:br>
            <a:r>
              <a:rPr lang="en-US" sz="1200" dirty="0"/>
              <a:t>GitHub </a:t>
            </a:r>
            <a:r>
              <a:rPr lang="uk-UA" sz="1200" dirty="0"/>
              <a:t>репозиторій: </a:t>
            </a:r>
            <a:r>
              <a:rPr lang="en-US" sz="1200" dirty="0"/>
              <a:t>https://github.com/Fukit23/WEB-Cursova.git</a:t>
            </a:r>
            <a:br>
              <a:rPr lang="uk-UA" sz="3200" dirty="0"/>
            </a:br>
            <a:br>
              <a:rPr lang="uk-UA" sz="3200" dirty="0"/>
            </a:br>
            <a:r>
              <a:rPr lang="uk-UA" sz="3200" dirty="0"/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288" y="1170603"/>
            <a:ext cx="116619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</a:rPr>
              <a:t>Навчально-науковий інститут атомної та теплової енергетики</a:t>
            </a:r>
          </a:p>
          <a:p>
            <a:pPr algn="ctr"/>
            <a:r>
              <a:rPr lang="uk-UA" sz="3200" dirty="0">
                <a:solidFill>
                  <a:srgbClr val="002060"/>
                </a:solidFill>
              </a:rPr>
              <a:t>Кафедра інженерії програмного забезпечення в енергетиці</a:t>
            </a:r>
          </a:p>
          <a:p>
            <a:pPr algn="ctr"/>
            <a:r>
              <a:rPr lang="uk-UA" sz="3200" b="1" dirty="0">
                <a:solidFill>
                  <a:srgbClr val="002060"/>
                </a:solidFill>
              </a:rPr>
              <a:t>Основи Веб-програмування. Курсова робота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1/17</a:t>
            </a:r>
          </a:p>
        </p:txBody>
      </p:sp>
    </p:spTree>
    <p:extLst>
      <p:ext uri="{BB962C8B-B14F-4D97-AF65-F5344CB8AC3E}">
        <p14:creationId xmlns:p14="http://schemas.microsoft.com/office/powerpoint/2010/main" val="7688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Актуальність 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85537" y="2935705"/>
            <a:ext cx="11020926" cy="2954655"/>
          </a:xfrm>
        </p:spPr>
        <p:txBody>
          <a:bodyPr/>
          <a:lstStyle/>
          <a:p>
            <a:pPr algn="l"/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Опис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задачі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значення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галузі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Платформи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цифрової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дистрибуції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App Stores) 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є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основним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стандартом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розповсюдження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ПЗ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монетизації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власного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маркетплейсу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дозволяє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практиці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реалізувати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складну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клієнт-серверну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взаємодію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безпечні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фінансові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транзакції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uk-UA" sz="1600" noProof="1">
                <a:solidFill>
                  <a:schemeClr val="tx2">
                    <a:lumMod val="75000"/>
                  </a:schemeClr>
                </a:solidFill>
              </a:rPr>
              <a:t>нормалізацію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баз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— критично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важливі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задачі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в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сучасній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інженерії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програмного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забезпечення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Мета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роботи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Проєктування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повнофункціонального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інтерактивного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веб-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додатка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«Магазин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програм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» для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забезпечення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зручної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взаємодії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між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видавцями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цифрового контенту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кінцевими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користувачами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Об’єкт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дослідження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Процес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створення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багатокористувацьких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веб-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додатків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електронної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комерції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базі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клієнт-серверної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архітектури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Предмет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дослідження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Програмні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інструменти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стек веб-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технологій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PHP, MySQL, JavaScript),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використані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розробки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маркетплейсу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цифрових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продуктів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2/17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284678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Постановка задачі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37411" y="2586633"/>
            <a:ext cx="11341768" cy="3693319"/>
          </a:xfrm>
        </p:spPr>
        <p:txBody>
          <a:bodyPr/>
          <a:lstStyle/>
          <a:p>
            <a:pPr algn="l"/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Головна задача: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інтерактивної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клієнт-серверної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платформи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з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чітким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розподілом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ролей для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публікації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монетизації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завантаження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цифрових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додатків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Перелік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завдань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функцій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досягнення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мети:</a:t>
            </a:r>
            <a:endParaRPr lang="ru-RU" sz="16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Проєктування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бази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Створення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нормалізованої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реляційної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БД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MySQL 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надійного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збереження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профілів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балансів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каталогів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історії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версій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відгуків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Backend-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частини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Написання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серверної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логіки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PHP) 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з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інтеграцією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механізмів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безпеки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хешування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паролів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підготовлені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SQL-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запити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проти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ін'єкцій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Створення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Frontend-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частини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адаптивного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користувацького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інтерфейсу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з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динамічним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оновленням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через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асинхронні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запити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Fetch API) 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без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перезавантаження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сторінок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Реалізація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рольової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моделі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Налаштування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розмежування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прав доступу для Гостей (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лише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перегляд),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Користувачів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(покупки,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відгуки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завантаження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)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Видавців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публікація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контенту).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Фінансовий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модуль та контроль доступу: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логіки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віртуального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балансу,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безпечного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проведення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транзакцій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перевірки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прав на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завантаження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файлів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tx2">
                    <a:lumMod val="75000"/>
                  </a:schemeClr>
                </a:solidFill>
              </a:rPr>
              <a:t>Управління</a:t>
            </a:r>
            <a:r>
              <a:rPr lang="ru-RU" sz="1600" b="1" dirty="0">
                <a:solidFill>
                  <a:schemeClr val="tx2">
                    <a:lumMod val="75000"/>
                  </a:schemeClr>
                </a:solidFill>
              </a:rPr>
              <a:t> контентом: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Створення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особистого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кабінету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видавця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додавання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програм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випуску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нових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версій-оновлень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обробки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графічних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файлів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ru-RU" sz="1600" dirty="0" err="1">
                <a:solidFill>
                  <a:schemeClr val="tx2">
                    <a:lumMod val="75000"/>
                  </a:schemeClr>
                </a:solidFill>
              </a:rPr>
              <a:t>іконок</a:t>
            </a:r>
            <a:r>
              <a:rPr lang="ru-RU" sz="16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3/17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3423444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93371" y="1157985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Аналіз предметної області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705853" y="2903132"/>
            <a:ext cx="10748210" cy="3447098"/>
          </a:xfrm>
        </p:spPr>
        <p:txBody>
          <a:bodyPr/>
          <a:lstStyle/>
          <a:p>
            <a:pPr algn="l"/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Огляд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існуючих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рішень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та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їх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недоліків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Глобальні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платформи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Play, Apple App Store, Steam)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повністю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домінують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 ринку,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але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мають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ряд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обмежень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розгортання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власних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корпоративних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маркетплейсів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Основні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недоліки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Закриті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екосистеми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надто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жорсткими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тривалими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процесами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модерації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контенту.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Високий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поріг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входу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великі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комісійні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збори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(до 30%)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незалежних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видавців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Громіздкі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перевантажені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архітектури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не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підходять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швидкого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розгортання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легкої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нішевої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платформи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цифрової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дистрибуції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Обґрунтування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вибору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технологій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СУБД 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MySQL: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Обрана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через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підтримку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транзакцій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сувору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реляційну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структуру (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зовнішні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каскадним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видаленням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що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критично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важливо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цілісності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фінансових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розрахунків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зв'язків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між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програмами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і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покупцями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(PHP):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Забезпечує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швидку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розробку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ізольованих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API-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ендпоінтів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зручну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безпечну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маршрутизацію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файлів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при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їх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завантаженні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 сервер.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(Vanilla JavaScript + Fetch API):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Відмова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важких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фреймворків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(типу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Angular) 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користь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нативного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 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дозволила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створити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максимально легкий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клієнт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 API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забезпечує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асинхронний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обмін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даними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(у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форматі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JSON) 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миттєвого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пошуку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та покупок без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повного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перезавантаження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сторінок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SPA-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підхід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4/17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127145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ідзаголовок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4291" y="2310938"/>
                <a:ext cx="11069782" cy="5057538"/>
              </a:xfrm>
            </p:spPr>
            <p:txBody>
              <a:bodyPr/>
              <a:lstStyle/>
              <a:p>
                <a:pPr algn="l"/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Методи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вирішення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та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математична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модель</a:t>
                </a:r>
              </a:p>
              <a:p>
                <a:pPr algn="l"/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Способи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та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методи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вирішення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задачі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Розділення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відповідальності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Separation of Concerns):</a:t>
                </a:r>
                <a:r>
                  <a:rPr 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Відокремлення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логіки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відображення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HTML/CSS)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бізнес-логіки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PHP) 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та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управління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даними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MySQL).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Асинхронний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обмін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даними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Використання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Fetch API 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для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оновлення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частин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інтерфейсу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без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перезавантаження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сторінки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Метод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валідації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та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безпеки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Застосування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підготовлених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запитів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Prepared Statements) 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та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серверної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фільтрації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вхідних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даних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l"/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Математична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модель (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Обчислення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середнього</a:t>
                </a:r>
                <a:r>
                  <a:rPr lang="ru-RU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рейтингу): 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Для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розрахунку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репутації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додатка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в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системі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використовується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модель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середнього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арифметичного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значення</a:t>
                </a:r>
                <a:r>
                  <a:rPr lang="ru-RU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k-UA" sz="16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uk-UA" sz="1600" b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uk-UA" sz="160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uk-UA" sz="160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sz="1600" b="0" i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600" b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dirty="0" smtClean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dirty="0" smtClean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1600" b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uk-UA" sz="16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R="0" lvl="0" algn="l" defTabSz="914400" rtl="0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1600" b="1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Де</a:t>
                </a:r>
                <a:r>
                  <a:rPr lang="en-US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285750" marR="0" lvl="0" indent="-285750" algn="l" defTabSz="914400" rtl="0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sz="1600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—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підсумковий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середній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рейтинг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додатка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</a:p>
              <a:p>
                <a:pPr marL="285750" marR="0" lvl="0" indent="-285750" algn="l" defTabSz="914400" rtl="0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оцінка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виставлена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-м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користувачем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1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до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5);</a:t>
                </a:r>
              </a:p>
              <a:p>
                <a:pPr marL="285750" marR="0" lvl="0" indent="-285750" algn="l" defTabSz="914400" rtl="0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—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загальна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кількість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отриманих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відгуків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R="0" lvl="0" algn="l" defTabSz="914400" rtl="0" fontAlgn="base" latinLnBrk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Це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значення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автоматично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перераховується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сервером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при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додаванні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кожного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нового</a:t>
                </a:r>
                <a:r>
                  <a:rPr lang="en-US" altLang="en-US" sz="1600" dirty="0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1600" dirty="0" err="1">
                    <a:solidFill>
                      <a:schemeClr val="tx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відгуку</a:t>
                </a:r>
                <a:endParaRPr lang="en-US" altLang="en-US" sz="1600" dirty="0">
                  <a:solidFill>
                    <a:schemeClr val="tx2">
                      <a:lumMod val="7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uk-UA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Підзаголовок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4291" y="2310938"/>
                <a:ext cx="11069782" cy="5057538"/>
              </a:xfrm>
              <a:blipFill>
                <a:blip r:embed="rId2"/>
                <a:stretch>
                  <a:fillRect l="-1101" t="-1205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5/17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69112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40525" y="2725860"/>
            <a:ext cx="10723418" cy="3323987"/>
          </a:xfrm>
        </p:spPr>
        <p:txBody>
          <a:bodyPr/>
          <a:lstStyle/>
          <a:p>
            <a:pPr algn="l"/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Архітектура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системи</a:t>
            </a:r>
            <a:endParaRPr lang="ru-RU" sz="18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Структурна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організація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Система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базується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трирівневій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клієнт-серверній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архітектурі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 Presentation Layer (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Рівень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представлення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):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Браузер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користувача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що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інтерпретує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HTML5/CSS3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виконує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JavaScript-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сценарії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 Logic Layer (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Рівень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логіки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):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Набір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PHP-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скриптів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API-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ендпоінтів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),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які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обробляють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запити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керують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сесіями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файловою системою.</a:t>
            </a:r>
          </a:p>
          <a:p>
            <a:pPr algn="l">
              <a:buFont typeface="+mj-lt"/>
              <a:buAutoNum type="arabicPeriod"/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 Data Layer (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Рівень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):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Реляційна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СУБД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MySQL,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де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зберігаються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всі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сутності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зв'язки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між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ними.</a:t>
            </a:r>
          </a:p>
          <a:p>
            <a:pPr algn="l"/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Механізм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взаємодії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8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ініціює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подію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наприклад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натискання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кнопки «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Придбати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»).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JavaScript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збирає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відправляє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Fetch-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запит у фоновому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режимі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Серверний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скрипт на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PHP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проводить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валідацію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звертається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до БД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повертає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JSON-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відповідь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динамічно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оновлює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DOM-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структуру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сторінки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основі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отриманої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відповіді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6/17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3368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7/17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467324-933D-6B64-FE2B-65EA26C6F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93" y="2747144"/>
            <a:ext cx="2709895" cy="2769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6FCF9C-F478-BBA0-A470-D42EA94A2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136" y="2747144"/>
            <a:ext cx="4072267" cy="2769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8841DF-49FA-B4F9-CFB2-96EA62E57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651" y="2725860"/>
            <a:ext cx="3066242" cy="27699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FBE5A1-A2BB-050E-58E4-477DD0A10211}"/>
              </a:ext>
            </a:extLst>
          </p:cNvPr>
          <p:cNvSpPr txBox="1"/>
          <p:nvPr/>
        </p:nvSpPr>
        <p:spPr>
          <a:xfrm>
            <a:off x="6862376" y="5517133"/>
            <a:ext cx="613479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uk-UA" sz="1800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Diagram</a:t>
            </a:r>
            <a:endParaRPr lang="en-US" sz="11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66539-8DC6-D3F5-95E6-863742F306A9}"/>
              </a:ext>
            </a:extLst>
          </p:cNvPr>
          <p:cNvSpPr txBox="1"/>
          <p:nvPr/>
        </p:nvSpPr>
        <p:spPr>
          <a:xfrm>
            <a:off x="631993" y="2211185"/>
            <a:ext cx="177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</a:t>
            </a:r>
            <a:r>
              <a:rPr lang="uk-UA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іаграми</a:t>
            </a:r>
            <a:endParaRPr lang="uk-UA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F167AC-5A8A-26A6-3512-B590BE6DC72F}"/>
              </a:ext>
            </a:extLst>
          </p:cNvPr>
          <p:cNvSpPr txBox="1"/>
          <p:nvPr/>
        </p:nvSpPr>
        <p:spPr>
          <a:xfrm>
            <a:off x="2618993" y="5535597"/>
            <a:ext cx="65005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uk-UA" sz="1800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uk-UA" sz="18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Diagram</a:t>
            </a:r>
            <a:endParaRPr lang="en-US" sz="11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92985-F634-5367-9AF1-90A61188AC8A}"/>
              </a:ext>
            </a:extLst>
          </p:cNvPr>
          <p:cNvSpPr txBox="1"/>
          <p:nvPr/>
        </p:nvSpPr>
        <p:spPr>
          <a:xfrm>
            <a:off x="-1263336" y="5535597"/>
            <a:ext cx="65005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uk-UA" sz="1800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</a:t>
            </a:r>
            <a:r>
              <a:rPr lang="uk-UA" sz="18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Diagram</a:t>
            </a:r>
            <a:endParaRPr lang="en-US" sz="11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512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340866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Проєктування системи</a:t>
            </a:r>
            <a:br>
              <a:rPr lang="uk-UA" dirty="0">
                <a:solidFill>
                  <a:srgbClr val="002060"/>
                </a:solidFill>
              </a:rPr>
            </a:b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40525" y="2349135"/>
            <a:ext cx="9013527" cy="4001095"/>
          </a:xfrm>
        </p:spPr>
        <p:txBody>
          <a:bodyPr/>
          <a:lstStyle/>
          <a:p>
            <a:pPr algn="l"/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Функціональні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нефункціональні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вимоги</a:t>
            </a:r>
            <a:endParaRPr lang="ru-RU" sz="20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Функціональні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вимоги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Підтримка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ролей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користувачів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Гість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Користувач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Видавець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Система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реєстрації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авторизації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з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розмежуванням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прав.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Пошук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фільтрація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за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категоріями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віковим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обмеженням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Механізм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покупки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додатків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управління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віртуальним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балансом.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Функціонал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публікації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програм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випуску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нових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версій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(для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видавців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Система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зворотного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зв’язку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оцінки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коментарі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algn="l"/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Нефункціональні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вимоги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2000" dirty="0">
              <a:solidFill>
                <a:schemeClr val="tx2">
                  <a:lumMod val="75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Безпека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захист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від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SQL-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ін'єкцій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конфіденційність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паролів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Продуктивність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швидкість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відгуку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інтерфейсу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завдяки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асинхронності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Надійність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збереження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цілісності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при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фінансових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операціях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schemeClr val="tx2">
                    <a:lumMod val="75000"/>
                  </a:schemeClr>
                </a:solidFill>
              </a:rPr>
              <a:t>Юзабіліті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інтуїтивно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зрозумілий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адаптивний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інтерфейс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з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модальними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2">
                    <a:lumMod val="75000"/>
                  </a:schemeClr>
                </a:solidFill>
              </a:rPr>
              <a:t>вікнами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8/17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286475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31439" y="2749244"/>
            <a:ext cx="11234057" cy="3600986"/>
          </a:xfrm>
        </p:spPr>
        <p:txBody>
          <a:bodyPr/>
          <a:lstStyle/>
          <a:p>
            <a:pPr algn="l"/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Опис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процесу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розробки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технологічний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стек</a:t>
            </a:r>
            <a:endParaRPr lang="ru-RU" sz="18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Процес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розробки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відбувався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за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ітеративною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моделлю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і включав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такі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етапи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Проєктування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реляційної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структури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в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MySQL Workbench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налаштування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локального сервера.</a:t>
            </a:r>
          </a:p>
          <a:p>
            <a:pPr algn="l">
              <a:buFont typeface="+mj-lt"/>
              <a:buAutoNum type="arabicPeriod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Створення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серверної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логіки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PHP: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обробка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сесій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реєстрація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механізми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безпеки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Розробка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адаптивного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інтерфейсу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за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допомогою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HTML5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та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CSS3 (Flexbox/Grid).</a:t>
            </a:r>
          </a:p>
          <a:p>
            <a:pPr algn="l">
              <a:buFont typeface="+mj-lt"/>
              <a:buAutoNum type="arabicPeriod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Написання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клієнтських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скриптів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JavaScript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реалізації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асинхронної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взаємодії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Інтеграція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сторонніх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інструментів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обробки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графічного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контенту.</a:t>
            </a:r>
          </a:p>
          <a:p>
            <a:pPr algn="l"/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Використані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технології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Серверна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частина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PHP 8.1 (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без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сторонніх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фреймворків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максимальної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швидкодії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База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MySQL (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з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використанням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рушія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</a:rPr>
              <a:t>InnoDB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підтримки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транзакцій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Клієнтська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частина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Vanilla JavaScript (ES6).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Бібліотеки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Cropper.js (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прецизійної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обробки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іконок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додатків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перед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завантаженням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).</a:t>
            </a:r>
          </a:p>
          <a:p>
            <a:pPr algn="l"/>
            <a:endParaRPr lang="uk-UA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9/17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121555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724394" y="2754931"/>
            <a:ext cx="10743211" cy="3046988"/>
          </a:xfrm>
        </p:spPr>
        <p:txBody>
          <a:bodyPr/>
          <a:lstStyle/>
          <a:p>
            <a:pPr algn="l"/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Реалізація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серверної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логіки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безпеки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PHP)</a:t>
            </a:r>
            <a:endParaRPr 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Основний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акцент при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розробці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Backend-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частини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було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зроблено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безпеці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цілісності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Ключові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аспекти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реалізації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Захист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SQL-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ін’єкцій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використання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виключно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підготовлених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виразів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Prepared Statements)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через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розширення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</a:rPr>
              <a:t>mysqli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Це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дозволяє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відокремити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SQL-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команду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користувача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Безпека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профілів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паролі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не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зберігаються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відкритому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вигляді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проходять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через алгоритм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хешування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</a:rPr>
              <a:t>Bcrypt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за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допомогою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функції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</a:rPr>
              <a:t>password_hash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Управління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станом: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використання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серверних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сесій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PHP Sessions)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ідентифікації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ролей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користувачів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захисту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приватних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ендпоінтів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Файлова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логіка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автоматичне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створення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унікальних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директорій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сервері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кожної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програми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контроль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версійності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через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зв’язки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базі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10/17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3240174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40525" y="2937811"/>
            <a:ext cx="10685417" cy="3046988"/>
          </a:xfrm>
        </p:spPr>
        <p:txBody>
          <a:bodyPr/>
          <a:lstStyle/>
          <a:p>
            <a:pPr algn="l"/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Реалізація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клієнтської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b="1" dirty="0" err="1">
                <a:solidFill>
                  <a:schemeClr val="tx2">
                    <a:lumMod val="75000"/>
                  </a:schemeClr>
                </a:solidFill>
              </a:rPr>
              <a:t>логіки</a:t>
            </a:r>
            <a:r>
              <a:rPr lang="ru-RU" sz="1800" b="1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JavaScript Fetch API)</a:t>
            </a:r>
            <a:endParaRPr 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Клієнтська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частина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працює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за принципом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Single Page Elements,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де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більшість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відбувається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без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перезавантаження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сторінки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Технічні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особливості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Асинхронність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використання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вбудованого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інтерфейсу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Fetch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для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відправки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POST 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та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GET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запитів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Це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забезпечує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безперервний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користувацький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досвід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UX).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Обмін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даними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взаємодія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з сервером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відбувається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форматі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JSON. JavaScript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приймає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структуровану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відповідь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динамічно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оновлює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DOM-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дерево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сторінки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Валідація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попередня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перевірка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форматів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файлів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заповнення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полів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форм на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стороні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клієнта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перед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відправкою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сервер.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Динамічний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рендеринг: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генерація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карток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додатків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списків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версій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блоків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відгуків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основі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отриманих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з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бази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 в реальному </a:t>
            </a:r>
            <a:r>
              <a:rPr lang="ru-RU" sz="1800" dirty="0" err="1">
                <a:solidFill>
                  <a:schemeClr val="tx2">
                    <a:lumMod val="75000"/>
                  </a:schemeClr>
                </a:solidFill>
              </a:rPr>
              <a:t>часі</a:t>
            </a:r>
            <a:r>
              <a:rPr lang="ru-RU" sz="18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11/17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1443174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12/17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60085D-8BC3-9371-D5D6-6780646FD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43" y="2814834"/>
            <a:ext cx="5042829" cy="2357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4B832-C668-4C07-97EC-3711FF110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829" y="2814834"/>
            <a:ext cx="5083040" cy="23578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9F6EF0-A749-43F0-861E-22B2A5C541D0}"/>
              </a:ext>
            </a:extLst>
          </p:cNvPr>
          <p:cNvSpPr txBox="1"/>
          <p:nvPr/>
        </p:nvSpPr>
        <p:spPr>
          <a:xfrm>
            <a:off x="2027258" y="5389306"/>
            <a:ext cx="2152997" cy="37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Головна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сторінка</a:t>
            </a:r>
            <a:endParaRPr lang="uk-UA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04B36-5AE7-F9CD-1015-C1900D5B218B}"/>
              </a:ext>
            </a:extLst>
          </p:cNvPr>
          <p:cNvSpPr txBox="1"/>
          <p:nvPr/>
        </p:nvSpPr>
        <p:spPr>
          <a:xfrm>
            <a:off x="7957036" y="5392146"/>
            <a:ext cx="23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Сторінка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програми</a:t>
            </a:r>
            <a:endParaRPr lang="uk-UA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52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Реалізація системи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13/17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3C787-EE24-CE45-3476-0C0E7CF0C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06" y="3939117"/>
            <a:ext cx="3615510" cy="11275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A96E5F-5489-12D8-48B6-0D9DC0D0D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524" y="3372184"/>
            <a:ext cx="3279380" cy="16945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665216-C5D0-573D-BFD6-D7945F32D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812" y="2883047"/>
            <a:ext cx="2975932" cy="21836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3FA4E9-1559-CC45-C351-FB97FE0CAEA1}"/>
              </a:ext>
            </a:extLst>
          </p:cNvPr>
          <p:cNvSpPr txBox="1"/>
          <p:nvPr/>
        </p:nvSpPr>
        <p:spPr>
          <a:xfrm>
            <a:off x="4456310" y="5883349"/>
            <a:ext cx="327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Проф</a:t>
            </a:r>
            <a:r>
              <a:rPr lang="uk-UA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іль</a:t>
            </a:r>
            <a:r>
              <a:rPr lang="uk-UA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видавця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677A59-7423-4DC5-B4A9-D18BF70A441F}"/>
              </a:ext>
            </a:extLst>
          </p:cNvPr>
          <p:cNvSpPr txBox="1"/>
          <p:nvPr/>
        </p:nvSpPr>
        <p:spPr>
          <a:xfrm>
            <a:off x="574106" y="5237018"/>
            <a:ext cx="361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Дані профіля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E8DC77-ABE5-8C5B-DACC-CD334F3641F4}"/>
              </a:ext>
            </a:extLst>
          </p:cNvPr>
          <p:cNvSpPr txBox="1"/>
          <p:nvPr/>
        </p:nvSpPr>
        <p:spPr>
          <a:xfrm>
            <a:off x="4523524" y="5237018"/>
            <a:ext cx="3279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Історія завантажень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09851A-2516-5CE7-52DA-860BE9847FF9}"/>
              </a:ext>
            </a:extLst>
          </p:cNvPr>
          <p:cNvSpPr txBox="1"/>
          <p:nvPr/>
        </p:nvSpPr>
        <p:spPr>
          <a:xfrm>
            <a:off x="8136812" y="5237018"/>
            <a:ext cx="2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Редагування та додавання програм</a:t>
            </a:r>
          </a:p>
        </p:txBody>
      </p:sp>
    </p:spTree>
    <p:extLst>
      <p:ext uri="{BB962C8B-B14F-4D97-AF65-F5344CB8AC3E}">
        <p14:creationId xmlns:p14="http://schemas.microsoft.com/office/powerpoint/2010/main" val="168190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99203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Тестування та верифікація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14/1</a:t>
            </a:r>
            <a:r>
              <a:rPr lang="en-US" sz="2400" dirty="0">
                <a:solidFill>
                  <a:schemeClr val="bg1"/>
                </a:solidFill>
              </a:rPr>
              <a:t>7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43F8C92-B177-FAD8-D5D3-9AA39949F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39" y="2641522"/>
            <a:ext cx="11948921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Методи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тестування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4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Модульне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тестування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(Unit):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Перевірка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коректності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роботи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ізольованих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скриптів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наприклад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алгоритмів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хешування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паролів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обчислення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середнього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рейтингу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Інтеграційне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тестування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(Integration):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Перевірка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безпомилкового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обміну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даними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між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клієнтським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інтерфейсом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сервером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маршрутизація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Fetch API ↔ PHP ↔ MySQL), а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також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правильність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обробки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JSON-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відповідей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Системне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тестування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(System / E2E):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Відпрацювання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наскрізних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користувацьких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сценаріїв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наприклад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реєстрація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поповнення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балансу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купівля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додатка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закріплення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доступу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завантаження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файлу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Результати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тестування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оцінка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якості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успішно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пройшла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перевірку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базові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веб-вразливості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зокрема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SQL-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ін'єкції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повністю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блокуються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параметризованими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запитами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Підтверджено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абсолютну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цілісність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фінансових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транзакцій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алгоритми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унеможливлюють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завантаження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контенту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підтвердженого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списання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коштів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балансу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Продемонстровано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високу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стабільність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роботи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файлової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створенні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директорій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нових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версій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обробці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зображень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Порівняння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аналогами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відміну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глобальних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комерційних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маркетплейсів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є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закритими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екосистемами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важкою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архітектурою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розроблена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платформа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має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мінімальний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час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відгуку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завдяки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асинхронності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є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незалежною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пропрієтарних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хмарних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рішень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і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може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бути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легко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розгорнута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будь-якому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стандартному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веб-сервері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що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робить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її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ідеальною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використання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якості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корпоративного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або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нішевого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магазину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6628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3151"/>
            <a:ext cx="9144000" cy="276998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Впровадження та супровід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15/17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711ED72-B2D7-DD8E-7370-D3E715B6E8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3819" y="3045870"/>
            <a:ext cx="115243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розгортання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Підготовка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середовища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Налаштування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веб-сервера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(Apache/Nginx),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інтерпретатора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PHP 7.4+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СУБД MySQL 8.0.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Конфігурація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сховища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Налаштування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доступу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(CHMOD)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системної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директорії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/uploads/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забезпечення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можливості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коректного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завантаження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іконок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архівів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Ініціалізація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даних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Імпорт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структури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через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скрипт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налаштування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параметрів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підключення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БД у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конфігураційних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файлах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бекенду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Документація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користувачів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Детальне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керівництво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(User Manual),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що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описує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процеси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реєстрації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управління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балансом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механіку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покупки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правила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залишення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відгуків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розробників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Технічний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опис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архітектури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специфікація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ендпоінтів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схема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бази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даних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(ERD)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коментарі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ключових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модулів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коду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подальшої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підтримки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Плани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щодо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подальшого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розвитку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Платіжні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системи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Інтеграція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реальних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платіжних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шлюзів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наприклад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LiqPay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або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Stripe)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заміни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моделі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віртуального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балансу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Аналітика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видавців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Створення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панелі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моніторингу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з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графіками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продажів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завантажень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динамікою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рейтингу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Безпека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мобільність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Впровадження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двофакторної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автентифікації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перехід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протокол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HTTPS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повна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адаптація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інтерфейсу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мобільні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пристрої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(PWA-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підхід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Система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сповіщень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Впровадження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Email-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розсилок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вихід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нових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версій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підписаних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користувачів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7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63304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Висновки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649224" y="2532888"/>
            <a:ext cx="10762488" cy="3662541"/>
          </a:xfrm>
        </p:spPr>
        <p:txBody>
          <a:bodyPr/>
          <a:lstStyle/>
          <a:p>
            <a:pPr algn="l"/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Основні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результати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роботи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Проєктовано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реалізовано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реляційну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базу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даних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у 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MySQL Workbench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що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забезпечує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цілісність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інформації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про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користувачів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транзакції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версії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ПЗ.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Розроблено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безпечну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серверну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частину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PHP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із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використанням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підготовлених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запитів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захисту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від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SQL-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ін’єкцій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Створено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інтерактивний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інтерфейс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JavaScript (Fetch API)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що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дозволило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досягти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швидкодії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рівні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сучасних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веб-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додатків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без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перезавантаження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сторінок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Досягнення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мети та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виконання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завдань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Мета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курсової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роботи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досягнута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створено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повнофункціональний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прототип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платформи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цифрової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дистрибуції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Усі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завдання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включаючи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реалізацію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рольової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моделі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фінансового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модуля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системи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відгуків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виконані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в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повному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обсязі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algn="l"/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Практична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цінність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Розроблена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система є готовим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технічним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рішенням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розгортання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нішевих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або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корпоративних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магазинів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програм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Використання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модульної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архітектури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нативних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технологій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гарантує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легкість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підтримки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високу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швидкість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роботи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при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мінімальних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вимогах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до сервера.</a:t>
            </a:r>
          </a:p>
          <a:p>
            <a:pPr algn="l"/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Перспективи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подальших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tx2">
                    <a:lumMod val="75000"/>
                  </a:schemeClr>
                </a:solidFill>
              </a:rPr>
              <a:t>розробок</a:t>
            </a:r>
            <a:r>
              <a:rPr lang="ru-RU" sz="1400" b="1" dirty="0">
                <a:solidFill>
                  <a:schemeClr val="tx2">
                    <a:lumMod val="75000"/>
                  </a:schemeClr>
                </a:solidFill>
              </a:rPr>
              <a:t>:</a:t>
            </a:r>
            <a:endParaRPr lang="ru-RU" sz="1400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Впровадження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реальних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платіжних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інструментів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розширення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аналітичного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функціоналу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видавців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Перехід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на протокол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HTTPS 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та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повна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адаптація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інтерфейсу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для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мобільних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пристроїв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Дослідження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можливостей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інтеграції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автоматичної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перевірки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завантажених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файлів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на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наявність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1400" dirty="0" err="1">
                <a:solidFill>
                  <a:schemeClr val="tx2">
                    <a:lumMod val="75000"/>
                  </a:schemeClr>
                </a:solidFill>
              </a:rPr>
              <a:t>вразливостей</a:t>
            </a:r>
            <a:r>
              <a:rPr lang="ru-RU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>
                <a:solidFill>
                  <a:schemeClr val="bg1"/>
                </a:solidFill>
              </a:rPr>
              <a:t>16/17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val="39128135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4">
  <a:themeElements>
    <a:clrScheme name="Офі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фіс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4" id="{462375DE-8928-429B-B01E-09E2FDA995FC}" vid="{78FACF3B-D61D-4CDD-A381-200BC8A0536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Тема4</Template>
  <TotalTime>190</TotalTime>
  <Words>2099</Words>
  <Application>Microsoft Office PowerPoint</Application>
  <PresentationFormat>Widescreen</PresentationFormat>
  <Paragraphs>217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 Math</vt:lpstr>
      <vt:lpstr>Tahoma</vt:lpstr>
      <vt:lpstr>Тема4</vt:lpstr>
      <vt:lpstr>  Тема курсової роботи Виконав: Черкашин Михайло Костянтинович, група ТВ-42 Перевірив: Голець Владислав Олександрович GitHub репозиторій: https://github.com/Fukit23/WEB-Cursova.git  2026</vt:lpstr>
      <vt:lpstr>Актуальність теми </vt:lpstr>
      <vt:lpstr>Постановка задачі </vt:lpstr>
      <vt:lpstr>Аналіз предметної області </vt:lpstr>
      <vt:lpstr>Проєктування системи  </vt:lpstr>
      <vt:lpstr>Проєктування системи  </vt:lpstr>
      <vt:lpstr>Проєктування системи  </vt:lpstr>
      <vt:lpstr>Проєктування системи  </vt:lpstr>
      <vt:lpstr>Реалізація системи </vt:lpstr>
      <vt:lpstr>Реалізація системи </vt:lpstr>
      <vt:lpstr>Реалізація системи </vt:lpstr>
      <vt:lpstr>Реалізація системи </vt:lpstr>
      <vt:lpstr>Реалізація системи </vt:lpstr>
      <vt:lpstr>Тестування та верифікація </vt:lpstr>
      <vt:lpstr>Впровадження та супровід </vt:lpstr>
      <vt:lpstr>Висновки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роботи  ПІБ студента, група ПІБ наукового керівника, посада  Рік захисту</dc:title>
  <dc:creator>Olha Zalevska</dc:creator>
  <cp:lastModifiedBy>Futik32 3</cp:lastModifiedBy>
  <cp:revision>15</cp:revision>
  <dcterms:created xsi:type="dcterms:W3CDTF">2024-05-18T16:47:00Z</dcterms:created>
  <dcterms:modified xsi:type="dcterms:W3CDTF">2026-05-20T15:36:51Z</dcterms:modified>
</cp:coreProperties>
</file>